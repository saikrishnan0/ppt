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94" r:id="rId5"/>
    <p:sldId id="2147470495" r:id="rId6"/>
    <p:sldId id="2147470496" r:id="rId7"/>
    <p:sldId id="2147470497" r:id="rId8"/>
    <p:sldId id="2147470491" r:id="rId9"/>
    <p:sldId id="2147470487" r:id="rId10"/>
    <p:sldId id="2147470498" r:id="rId11"/>
    <p:sldId id="2147470499" r:id="rId12"/>
    <p:sldId id="2147470500" r:id="rId13"/>
    <p:sldId id="2147470501" r:id="rId14"/>
    <p:sldId id="2147470503" r:id="rId15"/>
    <p:sldId id="2147470504" r:id="rId16"/>
    <p:sldId id="214747050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BBDA"/>
    <a:srgbClr val="25B9ED"/>
    <a:srgbClr val="FFFFFF"/>
    <a:srgbClr val="47BDAE"/>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2" d="100"/>
          <a:sy n="72" d="100"/>
        </p:scale>
        <p:origin x="1104" y="115"/>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334616" y="1631542"/>
            <a:ext cx="11428184" cy="59093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Project Title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b="1" dirty="0">
              <a:solidFill>
                <a:prstClr val="white"/>
              </a:solidFill>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FFFFFF"/>
                </a:solidFill>
                <a:latin typeface="Calibri" pitchFamily="34" charset="0"/>
                <a:ea typeface="Calibri" pitchFamily="34" charset="-122"/>
                <a:cs typeface="Calibri" pitchFamily="34" charset="-120"/>
              </a:rPr>
              <a:t>RAG for Secure Enterprise</a:t>
            </a:r>
            <a:r>
              <a:rPr lang="en-US" sz="3600" dirty="0"/>
              <a:t> </a:t>
            </a:r>
            <a:r>
              <a:rPr lang="en-US" sz="3600" b="1" dirty="0">
                <a:solidFill>
                  <a:srgbClr val="FFFFFF"/>
                </a:solidFill>
                <a:latin typeface="Calibri" pitchFamily="34" charset="0"/>
                <a:ea typeface="Calibri" pitchFamily="34" charset="-122"/>
                <a:cs typeface="Calibri" pitchFamily="34" charset="-120"/>
              </a:rPr>
              <a:t>Document Intelligence Using Role-Based Access Control (RBAC)</a:t>
            </a: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VINOTH KANNA S</a:t>
            </a:r>
          </a:p>
          <a:p>
            <a:pPr algn="ctr">
              <a:defRPr/>
            </a:pPr>
            <a:r>
              <a:rPr lang="en-US" sz="2400" b="1" dirty="0">
                <a:solidFill>
                  <a:prstClr val="white"/>
                </a:solidFill>
                <a:cs typeface="Calibri" panose="020F0502020204030204" pitchFamily="34" charset="0"/>
              </a:rPr>
              <a:t>CRESCENT 2025-27</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3527000795"/>
              </p:ext>
            </p:extLst>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7" name="Picture 6">
            <a:extLst>
              <a:ext uri="{FF2B5EF4-FFF2-40B4-BE49-F238E27FC236}">
                <a16:creationId xmlns:a16="http://schemas.microsoft.com/office/drawing/2014/main" id="{7DF0C71D-D9A7-2E72-176A-2DAF9A8E5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443" y="5108304"/>
            <a:ext cx="4201139" cy="2100570"/>
          </a:xfrm>
          <a:prstGeom prst="rect">
            <a:avLst/>
          </a:prstGeom>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357505"/>
            <a:ext cx="10624338" cy="4142989"/>
          </a:xfrm>
        </p:spPr>
        <p:txBody>
          <a:bodyPr/>
          <a:lstStyle/>
          <a:p>
            <a:pPr>
              <a:lnSpc>
                <a:spcPct val="150000"/>
              </a:lnSpc>
              <a:spcAft>
                <a:spcPts val="1600"/>
              </a:spcAft>
              <a:buSzPct val="100000"/>
            </a:pPr>
            <a:r>
              <a:rPr lang="en-US" sz="2400" b="0" dirty="0">
                <a:solidFill>
                  <a:srgbClr val="5583D1"/>
                </a:solidFill>
                <a:latin typeface="+mn-lt"/>
              </a:rPr>
              <a:t>Enterprise documents vary widely in sensitivity across departments.</a:t>
            </a:r>
          </a:p>
          <a:p>
            <a:pPr>
              <a:lnSpc>
                <a:spcPct val="150000"/>
              </a:lnSpc>
              <a:spcAft>
                <a:spcPts val="1600"/>
              </a:spcAft>
              <a:buSzPct val="100000"/>
            </a:pPr>
            <a:r>
              <a:rPr lang="en-US" sz="2400" b="0" dirty="0">
                <a:solidFill>
                  <a:srgbClr val="5583D1"/>
                </a:solidFill>
                <a:latin typeface="+mn-lt"/>
              </a:rPr>
              <a:t>RAG grounds LLM answers in real documents, reducing hallucination.</a:t>
            </a:r>
          </a:p>
          <a:p>
            <a:pPr>
              <a:lnSpc>
                <a:spcPct val="150000"/>
              </a:lnSpc>
              <a:spcAft>
                <a:spcPts val="1600"/>
              </a:spcAft>
              <a:buSzPct val="100000"/>
            </a:pPr>
            <a:r>
              <a:rPr lang="en-US" sz="2400" b="0" dirty="0">
                <a:solidFill>
                  <a:srgbClr val="5583D1"/>
                </a:solidFill>
                <a:latin typeface="+mn-lt"/>
              </a:rPr>
              <a:t>Most RAG systems ignore who is asking — a security gap.</a:t>
            </a:r>
          </a:p>
          <a:p>
            <a:pPr>
              <a:lnSpc>
                <a:spcPct val="150000"/>
              </a:lnSpc>
              <a:spcAft>
                <a:spcPts val="1600"/>
              </a:spcAft>
              <a:buSzPct val="100000"/>
            </a:pPr>
            <a:r>
              <a:rPr lang="en-US" sz="2400" b="0" dirty="0">
                <a:solidFill>
                  <a:srgbClr val="5583D1"/>
                </a:solidFill>
                <a:latin typeface="+mn-lt"/>
              </a:rPr>
              <a:t>This project enforces RBAC inside the retrieval pipeline itself.</a:t>
            </a:r>
          </a:p>
          <a:p>
            <a:pPr>
              <a:lnSpc>
                <a:spcPct val="150000"/>
              </a:lnSpc>
            </a:pPr>
            <a:endParaRPr lang="en-US" sz="2400" b="0" dirty="0">
              <a:solidFill>
                <a:srgbClr val="5583D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3912125" y="57036"/>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6" name="Rectangle 5">
            <a:extLst>
              <a:ext uri="{FF2B5EF4-FFF2-40B4-BE49-F238E27FC236}">
                <a16:creationId xmlns:a16="http://schemas.microsoft.com/office/drawing/2014/main" id="{E78BCCFA-EF04-B2CC-C841-FEA7F8E80249}"/>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7" name="Picture 6" descr="LTM Limited (Formerly LTIMindtree Limited)">
            <a:extLst>
              <a:ext uri="{FF2B5EF4-FFF2-40B4-BE49-F238E27FC236}">
                <a16:creationId xmlns:a16="http://schemas.microsoft.com/office/drawing/2014/main" id="{1E1CD245-7E67-BEF3-30D0-C20486857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142989"/>
          </a:xfrm>
        </p:spPr>
        <p:txBody>
          <a:bodyPr/>
          <a:lstStyle/>
          <a:p>
            <a:pPr>
              <a:lnSpc>
                <a:spcPct val="150000"/>
              </a:lnSpc>
              <a:spcAft>
                <a:spcPts val="1600"/>
              </a:spcAft>
              <a:buSzPct val="100000"/>
            </a:pPr>
            <a:r>
              <a:rPr lang="en-US" sz="2400" b="0" dirty="0">
                <a:solidFill>
                  <a:srgbClr val="5583D1"/>
                </a:solidFill>
                <a:latin typeface="+mn-lt"/>
              </a:rPr>
              <a:t>Enforce RBAC at the retrieval layer, not just the UI.</a:t>
            </a:r>
          </a:p>
          <a:p>
            <a:pPr>
              <a:lnSpc>
                <a:spcPct val="150000"/>
              </a:lnSpc>
              <a:spcAft>
                <a:spcPts val="1600"/>
              </a:spcAft>
              <a:buSzPct val="100000"/>
            </a:pPr>
            <a:r>
              <a:rPr lang="en-US" sz="2400" b="0" dirty="0">
                <a:solidFill>
                  <a:srgbClr val="5583D1"/>
                </a:solidFill>
                <a:latin typeface="+mn-lt"/>
              </a:rPr>
              <a:t>Block unauthorized chunks from ever reaching the LLM.</a:t>
            </a:r>
          </a:p>
          <a:p>
            <a:pPr>
              <a:lnSpc>
                <a:spcPct val="150000"/>
              </a:lnSpc>
              <a:spcAft>
                <a:spcPts val="1600"/>
              </a:spcAft>
              <a:buSzPct val="100000"/>
            </a:pPr>
            <a:r>
              <a:rPr lang="en-US" sz="2400" b="0" dirty="0">
                <a:solidFill>
                  <a:srgbClr val="5583D1"/>
                </a:solidFill>
                <a:latin typeface="+mn-lt"/>
              </a:rPr>
              <a:t>Give admins tools to manage users and audit logins.</a:t>
            </a:r>
          </a:p>
          <a:p>
            <a:pPr>
              <a:lnSpc>
                <a:spcPct val="150000"/>
              </a:lnSpc>
              <a:spcAft>
                <a:spcPts val="1600"/>
              </a:spcAft>
              <a:buSzPct val="100000"/>
            </a:pPr>
            <a:r>
              <a:rPr lang="en-US" sz="2400" b="0" dirty="0">
                <a:solidFill>
                  <a:srgbClr val="5583D1"/>
                </a:solidFill>
                <a:latin typeface="+mn-lt"/>
              </a:rPr>
              <a:t>Deliver a working full-stack demo with real authentication.</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5C4E5AD-F938-3DF0-87EB-B33473518C21}"/>
              </a:ext>
            </a:extLst>
          </p:cNvPr>
          <p:cNvSpPr txBox="1"/>
          <p:nvPr/>
        </p:nvSpPr>
        <p:spPr>
          <a:xfrm>
            <a:off x="3912125" y="57036"/>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8" name="Rectangle 7">
            <a:extLst>
              <a:ext uri="{FF2B5EF4-FFF2-40B4-BE49-F238E27FC236}">
                <a16:creationId xmlns:a16="http://schemas.microsoft.com/office/drawing/2014/main" id="{4D549017-0E91-F5C7-E849-0D494C0313E7}"/>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9" name="Picture 6" descr="LTM Limited (Formerly LTIMindtree Limited)">
            <a:extLst>
              <a:ext uri="{FF2B5EF4-FFF2-40B4-BE49-F238E27FC236}">
                <a16:creationId xmlns:a16="http://schemas.microsoft.com/office/drawing/2014/main" id="{72D1A61C-8BDB-B51A-40AE-E9C0B25CBA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271219"/>
            <a:ext cx="10624338" cy="4142989"/>
          </a:xfrm>
        </p:spPr>
        <p:txBody>
          <a:bodyPr/>
          <a:lstStyle/>
          <a:p>
            <a:pPr>
              <a:lnSpc>
                <a:spcPct val="150000"/>
              </a:lnSpc>
              <a:spcAft>
                <a:spcPts val="1600"/>
              </a:spcAft>
              <a:buSzPct val="100000"/>
            </a:pPr>
            <a:r>
              <a:rPr lang="en-US" sz="2400" b="0" dirty="0">
                <a:solidFill>
                  <a:srgbClr val="5583D1"/>
                </a:solidFill>
                <a:latin typeface="+mn-lt"/>
              </a:rPr>
              <a:t>Document ingestion, chunking, and embedding generation.</a:t>
            </a:r>
          </a:p>
          <a:p>
            <a:pPr>
              <a:lnSpc>
                <a:spcPct val="150000"/>
              </a:lnSpc>
              <a:spcAft>
                <a:spcPts val="1600"/>
              </a:spcAft>
              <a:buSzPct val="100000"/>
            </a:pPr>
            <a:r>
              <a:rPr lang="en-US" sz="2400" b="0" dirty="0">
                <a:solidFill>
                  <a:srgbClr val="5583D1"/>
                </a:solidFill>
                <a:latin typeface="+mn-lt"/>
              </a:rPr>
              <a:t>RBAC across 9 roles, 7 departments, 4 confidentiality tiers.</a:t>
            </a:r>
          </a:p>
          <a:p>
            <a:pPr>
              <a:lnSpc>
                <a:spcPct val="150000"/>
              </a:lnSpc>
              <a:spcAft>
                <a:spcPts val="1600"/>
              </a:spcAft>
              <a:buSzPct val="100000"/>
            </a:pPr>
            <a:r>
              <a:rPr lang="en-US" sz="2400" b="0" dirty="0">
                <a:solidFill>
                  <a:srgbClr val="5583D1"/>
                </a:solidFill>
                <a:latin typeface="+mn-lt"/>
              </a:rPr>
              <a:t>Secure authentication with salted password hashing.</a:t>
            </a:r>
          </a:p>
          <a:p>
            <a:pPr>
              <a:lnSpc>
                <a:spcPct val="150000"/>
              </a:lnSpc>
              <a:spcAft>
                <a:spcPts val="1600"/>
              </a:spcAft>
              <a:buSzPct val="100000"/>
            </a:pPr>
            <a:r>
              <a:rPr lang="en-US" sz="2400" b="0" dirty="0">
                <a:solidFill>
                  <a:srgbClr val="5583D1"/>
                </a:solidFill>
                <a:latin typeface="+mn-lt"/>
              </a:rPr>
              <a:t>LLM-based generation with a non-LLM extractive fallback.</a:t>
            </a:r>
          </a:p>
          <a:p>
            <a:pPr>
              <a:lnSpc>
                <a:spcPct val="150000"/>
              </a:lnSpc>
            </a:pPr>
            <a:endParaRPr lang="en-US" sz="2400" b="0" dirty="0">
              <a:solidFill>
                <a:srgbClr val="5583D1"/>
              </a:solidFill>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Scope</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EB008A-04BB-C5A3-794B-0DC2B0523E0F}"/>
              </a:ext>
            </a:extLst>
          </p:cNvPr>
          <p:cNvSpPr txBox="1"/>
          <p:nvPr/>
        </p:nvSpPr>
        <p:spPr>
          <a:xfrm>
            <a:off x="4081808"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AutoShape 2" descr="LTIMindtree Logo">
            <a:extLst>
              <a:ext uri="{FF2B5EF4-FFF2-40B4-BE49-F238E27FC236}">
                <a16:creationId xmlns:a16="http://schemas.microsoft.com/office/drawing/2014/main" id="{23863276-72E5-30AB-392D-D8D21A2E79C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Rectangle 8">
            <a:extLst>
              <a:ext uri="{FF2B5EF4-FFF2-40B4-BE49-F238E27FC236}">
                <a16:creationId xmlns:a16="http://schemas.microsoft.com/office/drawing/2014/main" id="{53632E79-658D-9E93-B5C2-C0CA952E7043}"/>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030" name="Picture 6" descr="LTM Limited (Formerly LTIMindtree Limited)">
            <a:extLst>
              <a:ext uri="{FF2B5EF4-FFF2-40B4-BE49-F238E27FC236}">
                <a16:creationId xmlns:a16="http://schemas.microsoft.com/office/drawing/2014/main" id="{71A73E9E-CECD-2252-34B1-1B287A4B83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9C03-8E92-54D7-6EE2-33DC2B5C67B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433ECB-8EAD-0AB5-1D66-62BCF658AA2C}"/>
              </a:ext>
            </a:extLst>
          </p:cNvPr>
          <p:cNvSpPr>
            <a:spLocks noGrp="1"/>
          </p:cNvSpPr>
          <p:nvPr>
            <p:ph type="body" sz="quarter" idx="13"/>
          </p:nvPr>
        </p:nvSpPr>
        <p:spPr>
          <a:xfrm>
            <a:off x="255996" y="1271219"/>
            <a:ext cx="11216534" cy="4142989"/>
          </a:xfrm>
        </p:spPr>
        <p:txBody>
          <a:bodyPr/>
          <a:lstStyle/>
          <a:p>
            <a:pPr marL="0" indent="0">
              <a:lnSpc>
                <a:spcPct val="150000"/>
              </a:lnSpc>
              <a:buNone/>
            </a:pPr>
            <a:endParaRPr lang="en-US" sz="1300" b="0" dirty="0">
              <a:solidFill>
                <a:srgbClr val="5583D1"/>
              </a:solidFill>
              <a:latin typeface="+mn-lt"/>
            </a:endParaRPr>
          </a:p>
          <a:p>
            <a:pPr>
              <a:lnSpc>
                <a:spcPct val="100000"/>
              </a:lnSpc>
            </a:pPr>
            <a:r>
              <a:rPr lang="en-US" b="0" dirty="0">
                <a:solidFill>
                  <a:srgbClr val="5583D1"/>
                </a:solidFill>
                <a:latin typeface="+mn-lt"/>
              </a:rPr>
              <a:t>Enterprise AI Must Enforce Participant-Aware Access Control (2025)</a:t>
            </a:r>
          </a:p>
          <a:p>
            <a:pPr marL="0" indent="0">
              <a:lnSpc>
                <a:spcPct val="100000"/>
              </a:lnSpc>
              <a:buNone/>
            </a:pPr>
            <a:r>
              <a:rPr lang="en-US" sz="2400" b="0" dirty="0">
                <a:solidFill>
                  <a:srgbClr val="5583D1"/>
                </a:solidFill>
                <a:latin typeface="+mn-lt"/>
              </a:rPr>
              <a:t>     Identifies data leakage and unauthorized access risks in enterprise RAG.</a:t>
            </a:r>
          </a:p>
          <a:p>
            <a:pPr marL="0" indent="0">
              <a:lnSpc>
                <a:spcPct val="100000"/>
              </a:lnSpc>
              <a:buNone/>
            </a:pPr>
            <a:endParaRPr lang="en-US" sz="2400" b="0" dirty="0">
              <a:solidFill>
                <a:srgbClr val="5583D1"/>
              </a:solidFill>
              <a:latin typeface="+mn-lt"/>
            </a:endParaRPr>
          </a:p>
          <a:p>
            <a:pPr>
              <a:lnSpc>
                <a:spcPct val="100000"/>
              </a:lnSpc>
            </a:pPr>
            <a:r>
              <a:rPr lang="en-US" b="0" dirty="0">
                <a:solidFill>
                  <a:srgbClr val="5583D1"/>
                </a:solidFill>
                <a:latin typeface="+mn-lt"/>
              </a:rPr>
              <a:t>Provably Secure Retrieval-Augmented Generation (2025)</a:t>
            </a:r>
          </a:p>
          <a:p>
            <a:pPr marL="0" indent="0">
              <a:lnSpc>
                <a:spcPct val="100000"/>
              </a:lnSpc>
              <a:buNone/>
            </a:pPr>
            <a:r>
              <a:rPr lang="en-US" sz="2400" b="0" dirty="0">
                <a:solidFill>
                  <a:srgbClr val="5583D1"/>
                </a:solidFill>
                <a:latin typeface="+mn-lt"/>
              </a:rPr>
              <a:t>    Uses role-aware retrieval and validation to prevent unauthorized information access.</a:t>
            </a:r>
          </a:p>
          <a:p>
            <a:pPr marL="0" indent="0">
              <a:lnSpc>
                <a:spcPct val="100000"/>
              </a:lnSpc>
              <a:buNone/>
            </a:pPr>
            <a:endParaRPr lang="en-US" sz="2400" b="0" dirty="0">
              <a:solidFill>
                <a:srgbClr val="5583D1"/>
              </a:solidFill>
              <a:latin typeface="+mn-lt"/>
            </a:endParaRPr>
          </a:p>
          <a:p>
            <a:pPr>
              <a:lnSpc>
                <a:spcPct val="100000"/>
              </a:lnSpc>
            </a:pPr>
            <a:r>
              <a:rPr lang="en-US" b="0" dirty="0">
                <a:solidFill>
                  <a:srgbClr val="5583D1"/>
                </a:solidFill>
                <a:latin typeface="+mn-lt"/>
              </a:rPr>
              <a:t>AI-Driven Filtering for Role-Based Access Control (2025)</a:t>
            </a:r>
          </a:p>
          <a:p>
            <a:pPr marL="0" indent="0">
              <a:lnSpc>
                <a:spcPct val="100000"/>
              </a:lnSpc>
              <a:buNone/>
            </a:pPr>
            <a:r>
              <a:rPr lang="en-US" sz="2400" b="0" dirty="0">
                <a:solidFill>
                  <a:srgbClr val="5583D1"/>
                </a:solidFill>
                <a:latin typeface="+mn-lt"/>
              </a:rPr>
              <a:t>    Focuses on confidentiality and integrity in RAG.</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DAB3663C-4C71-EB2A-170D-22878BAC4C6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Literature Review</a:t>
            </a:r>
          </a:p>
        </p:txBody>
      </p:sp>
      <p:cxnSp>
        <p:nvCxnSpPr>
          <p:cNvPr id="5" name="Straight Connector 4">
            <a:extLst>
              <a:ext uri="{FF2B5EF4-FFF2-40B4-BE49-F238E27FC236}">
                <a16:creationId xmlns:a16="http://schemas.microsoft.com/office/drawing/2014/main" id="{B91B76A7-3EE1-470C-EBA7-8F98E8FFE10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D11724-79D4-0638-9C05-77425B9500D4}"/>
              </a:ext>
            </a:extLst>
          </p:cNvPr>
          <p:cNvSpPr txBox="1"/>
          <p:nvPr/>
        </p:nvSpPr>
        <p:spPr>
          <a:xfrm>
            <a:off x="4138369"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175410BF-B4C4-99E4-35F5-40F8DD991A55}"/>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F7670379-0AD4-EBD9-8789-3B3BAF88A9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076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3C69-472F-A80F-ECBC-553E043DB9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7C2521A-B8A4-7818-FEB4-0309182DBEC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Summary of Literature</a:t>
            </a:r>
          </a:p>
        </p:txBody>
      </p:sp>
      <p:cxnSp>
        <p:nvCxnSpPr>
          <p:cNvPr id="5" name="Straight Connector 4">
            <a:extLst>
              <a:ext uri="{FF2B5EF4-FFF2-40B4-BE49-F238E27FC236}">
                <a16:creationId xmlns:a16="http://schemas.microsoft.com/office/drawing/2014/main" id="{76871527-EAED-D60A-DB4D-12A2CE4201D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215EC13-6748-BAD4-C953-D2A3E4369998}"/>
              </a:ext>
            </a:extLst>
          </p:cNvPr>
          <p:cNvSpPr txBox="1"/>
          <p:nvPr/>
        </p:nvSpPr>
        <p:spPr>
          <a:xfrm>
            <a:off x="4128942"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447AA17C-FCAD-A298-06DE-E306ACF48D6D}"/>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3BEDBD5B-E67C-7B6B-7835-B458F355F7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F399A00-A386-A75A-5596-8DBF03012231}"/>
              </a:ext>
            </a:extLst>
          </p:cNvPr>
          <p:cNvSpPr txBox="1"/>
          <p:nvPr/>
        </p:nvSpPr>
        <p:spPr>
          <a:xfrm>
            <a:off x="487062" y="1651421"/>
            <a:ext cx="11368240" cy="3801041"/>
          </a:xfrm>
          <a:prstGeom prst="rect">
            <a:avLst/>
          </a:prstGeom>
          <a:noFill/>
        </p:spPr>
        <p:txBody>
          <a:bodyPr wrap="square">
            <a:spAutoFit/>
          </a:bodyPr>
          <a:lstStyle/>
          <a:p>
            <a:pPr marL="342900" indent="-342900">
              <a:spcBef>
                <a:spcPts val="1000"/>
              </a:spcBef>
              <a:buFont typeface="Arial" panose="020B0604020202020204" pitchFamily="34" charset="0"/>
              <a:buChar char="•"/>
            </a:pPr>
            <a:r>
              <a:rPr lang="en-IN" sz="2400" dirty="0">
                <a:solidFill>
                  <a:srgbClr val="5583D1"/>
                </a:solidFill>
                <a:cs typeface="Calibri" panose="020F0502020204030204" pitchFamily="34" charset="0"/>
              </a:rPr>
              <a:t>RAG improves enterprise document question answering by retrieving relevant information before LLM generation.</a:t>
            </a:r>
          </a:p>
          <a:p>
            <a:pPr marL="342900" indent="-342900">
              <a:spcBef>
                <a:spcPts val="1000"/>
              </a:spcBef>
              <a:buFont typeface="Arial" panose="020B0604020202020204" pitchFamily="34" charset="0"/>
              <a:buChar char="•"/>
            </a:pPr>
            <a:r>
              <a:rPr lang="en-IN" sz="2400" dirty="0">
                <a:solidFill>
                  <a:srgbClr val="5583D1"/>
                </a:solidFill>
                <a:cs typeface="Calibri" panose="020F0502020204030204" pitchFamily="34" charset="0"/>
              </a:rPr>
              <a:t>Recent research highlights security risks such as unauthorized retrieval, data leakage, prompt injection, and retrieval poisoning.</a:t>
            </a:r>
          </a:p>
          <a:p>
            <a:pPr marL="342900" indent="-342900">
              <a:spcBef>
                <a:spcPts val="1000"/>
              </a:spcBef>
              <a:buFont typeface="Arial" panose="020B0604020202020204" pitchFamily="34" charset="0"/>
              <a:buChar char="•"/>
            </a:pPr>
            <a:r>
              <a:rPr lang="en-IN" sz="2400" dirty="0">
                <a:solidFill>
                  <a:srgbClr val="5583D1"/>
                </a:solidFill>
                <a:cs typeface="Calibri" panose="020F0502020204030204" pitchFamily="34" charset="0"/>
              </a:rPr>
              <a:t>RBAC-based approaches provide role-aware access control to prevent users from accessing restricted enterprise documents.</a:t>
            </a:r>
          </a:p>
          <a:p>
            <a:pPr marL="342900" indent="-342900">
              <a:spcBef>
                <a:spcPts val="1000"/>
              </a:spcBef>
              <a:buFont typeface="Arial" panose="020B0604020202020204" pitchFamily="34" charset="0"/>
              <a:buChar char="•"/>
            </a:pPr>
            <a:r>
              <a:rPr lang="en-IN" sz="2400" dirty="0">
                <a:solidFill>
                  <a:srgbClr val="5583D1"/>
                </a:solidFill>
                <a:cs typeface="Calibri" panose="020F0502020204030204" pitchFamily="34" charset="0"/>
              </a:rPr>
              <a:t>Research Gap: Existing methods often address retrieval, security, and access control separately; the proposed work combines RBAC + RAG + Cross-Encoder Reranking for secure and relevant document intelligence.</a:t>
            </a:r>
          </a:p>
        </p:txBody>
      </p:sp>
    </p:spTree>
    <p:extLst>
      <p:ext uri="{BB962C8B-B14F-4D97-AF65-F5344CB8AC3E}">
        <p14:creationId xmlns:p14="http://schemas.microsoft.com/office/powerpoint/2010/main" val="4084703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527018"/>
            <a:ext cx="10624338" cy="4142989"/>
          </a:xfrm>
        </p:spPr>
        <p:txBody>
          <a:bodyPr/>
          <a:lstStyle/>
          <a:p>
            <a:pPr marL="355600" indent="-355600">
              <a:lnSpc>
                <a:spcPct val="105000"/>
              </a:lnSpc>
              <a:spcAft>
                <a:spcPts val="1600"/>
              </a:spcAft>
              <a:buSzPct val="100000"/>
              <a:buChar char="▪"/>
            </a:pPr>
            <a:r>
              <a:rPr lang="en-US" sz="2400" b="0" dirty="0">
                <a:solidFill>
                  <a:srgbClr val="5583D1"/>
                </a:solidFill>
                <a:latin typeface="+mn-lt"/>
              </a:rPr>
              <a:t>Dataset: 80 documents, 7 departments, 4 confidentiality tiers.</a:t>
            </a:r>
          </a:p>
          <a:p>
            <a:pPr marL="355600" indent="-355600">
              <a:lnSpc>
                <a:spcPct val="105000"/>
              </a:lnSpc>
              <a:spcAft>
                <a:spcPts val="1600"/>
              </a:spcAft>
              <a:buSzPct val="100000"/>
              <a:buChar char="▪"/>
            </a:pPr>
            <a:r>
              <a:rPr lang="en-US" sz="2400" b="0" dirty="0">
                <a:solidFill>
                  <a:srgbClr val="5583D1"/>
                </a:solidFill>
                <a:latin typeface="+mn-lt"/>
              </a:rPr>
              <a:t>Passwords hashed with salted PBKDF2-HMAC-SHA256 (200k iterations).</a:t>
            </a:r>
          </a:p>
          <a:p>
            <a:pPr marL="355600" indent="-355600">
              <a:lnSpc>
                <a:spcPct val="105000"/>
              </a:lnSpc>
              <a:spcAft>
                <a:spcPts val="1600"/>
              </a:spcAft>
              <a:buSzPct val="100000"/>
              <a:buChar char="▪"/>
            </a:pPr>
            <a:r>
              <a:rPr lang="en-US" sz="2400" b="0" dirty="0">
                <a:solidFill>
                  <a:srgbClr val="5583D1"/>
                </a:solidFill>
                <a:latin typeface="+mn-lt"/>
              </a:rPr>
              <a:t>Every login attempt and query is logged for audit purposes.</a:t>
            </a:r>
          </a:p>
          <a:p>
            <a:pPr marL="355600" indent="-355600">
              <a:lnSpc>
                <a:spcPct val="105000"/>
              </a:lnSpc>
              <a:spcAft>
                <a:spcPts val="1600"/>
              </a:spcAft>
              <a:buSzPct val="100000"/>
              <a:buChar char="▪"/>
            </a:pPr>
            <a:r>
              <a:rPr lang="en-US" sz="2400" b="0" dirty="0">
                <a:solidFill>
                  <a:srgbClr val="5583D1"/>
                </a:solidFill>
                <a:latin typeface="+mn-lt"/>
              </a:rPr>
              <a:t>Two frontends: a </a:t>
            </a:r>
            <a:r>
              <a:rPr lang="en-US" sz="2400" b="0" dirty="0" err="1">
                <a:solidFill>
                  <a:srgbClr val="5583D1"/>
                </a:solidFill>
                <a:latin typeface="+mn-lt"/>
              </a:rPr>
              <a:t>Streamlit</a:t>
            </a:r>
            <a:r>
              <a:rPr lang="en-US" sz="2400" b="0" dirty="0">
                <a:solidFill>
                  <a:srgbClr val="5583D1"/>
                </a:solidFill>
                <a:latin typeface="+mn-lt"/>
              </a:rPr>
              <a:t> UI and a full Node.js/Express app.</a:t>
            </a:r>
          </a:p>
          <a:p>
            <a:pPr marL="0" indent="0">
              <a:lnSpc>
                <a:spcPct val="150000"/>
              </a:lnSpc>
              <a:buNone/>
            </a:pPr>
            <a:endParaRPr lang="en-US" sz="2400" b="0" dirty="0">
              <a:solidFill>
                <a:schemeClr val="accent5">
                  <a:lumMod val="75000"/>
                </a:schemeClr>
              </a:solidFill>
              <a:latin typeface="+mn-lt"/>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Additional Information</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7675AB-6528-C6E1-1298-8B4DC0FBA428}"/>
              </a:ext>
            </a:extLst>
          </p:cNvPr>
          <p:cNvSpPr txBox="1"/>
          <p:nvPr/>
        </p:nvSpPr>
        <p:spPr>
          <a:xfrm>
            <a:off x="411951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D8547CF6-2DB6-043B-0D57-69B3AD0899A0}"/>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CB581111-F34F-9970-D173-3E257F9431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a:t>
            </a:r>
          </a:p>
        </p:txBody>
      </p:sp>
      <p:cxnSp>
        <p:nvCxnSpPr>
          <p:cNvPr id="5" name="Straight Connector 4">
            <a:extLst>
              <a:ext uri="{FF2B5EF4-FFF2-40B4-BE49-F238E27FC236}">
                <a16:creationId xmlns:a16="http://schemas.microsoft.com/office/drawing/2014/main" id="{25CD5B67-3503-60B5-8469-F3C3191D84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F01665B-C1F1-9A39-E419-0AFCC4BE0EFD}"/>
              </a:ext>
            </a:extLst>
          </p:cNvPr>
          <p:cNvSpPr txBox="1"/>
          <p:nvPr/>
        </p:nvSpPr>
        <p:spPr>
          <a:xfrm>
            <a:off x="4072380"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C5B63B2D-7B75-C470-2E06-DBCE99141014}"/>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E4316486-4CBB-6223-6F62-CBC22688DB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Shape 4">
            <a:extLst>
              <a:ext uri="{FF2B5EF4-FFF2-40B4-BE49-F238E27FC236}">
                <a16:creationId xmlns:a16="http://schemas.microsoft.com/office/drawing/2014/main" id="{A1C0A09B-4A68-05FE-7C52-AF4AB962A397}"/>
              </a:ext>
            </a:extLst>
          </p:cNvPr>
          <p:cNvSpPr/>
          <p:nvPr/>
        </p:nvSpPr>
        <p:spPr>
          <a:xfrm>
            <a:off x="512439" y="1554641"/>
            <a:ext cx="5271516" cy="1024128"/>
          </a:xfrm>
          <a:prstGeom prst="roundRect">
            <a:avLst>
              <a:gd name="adj" fmla="val 7143"/>
            </a:avLst>
          </a:prstGeom>
          <a:solidFill>
            <a:srgbClr val="F5F7FC"/>
          </a:solidFill>
          <a:ln w="12700">
            <a:solidFill>
              <a:srgbClr val="CADCFC"/>
            </a:solidFill>
            <a:prstDash val="solid"/>
          </a:ln>
        </p:spPr>
      </p:sp>
      <p:sp>
        <p:nvSpPr>
          <p:cNvPr id="10" name="Shape 5">
            <a:extLst>
              <a:ext uri="{FF2B5EF4-FFF2-40B4-BE49-F238E27FC236}">
                <a16:creationId xmlns:a16="http://schemas.microsoft.com/office/drawing/2014/main" id="{A0BF02D0-F07E-9D7D-2B77-A3B35A98442D}"/>
              </a:ext>
            </a:extLst>
          </p:cNvPr>
          <p:cNvSpPr/>
          <p:nvPr/>
        </p:nvSpPr>
        <p:spPr>
          <a:xfrm>
            <a:off x="677031" y="1815245"/>
            <a:ext cx="502920" cy="502920"/>
          </a:xfrm>
          <a:prstGeom prst="ellipse">
            <a:avLst/>
          </a:prstGeom>
          <a:solidFill>
            <a:srgbClr val="1E2761"/>
          </a:solidFill>
          <a:ln/>
        </p:spPr>
      </p:sp>
      <p:sp>
        <p:nvSpPr>
          <p:cNvPr id="11" name="Text 6">
            <a:extLst>
              <a:ext uri="{FF2B5EF4-FFF2-40B4-BE49-F238E27FC236}">
                <a16:creationId xmlns:a16="http://schemas.microsoft.com/office/drawing/2014/main" id="{39080F93-4354-390A-EBBE-306BE59734B4}"/>
              </a:ext>
            </a:extLst>
          </p:cNvPr>
          <p:cNvSpPr txBox="1"/>
          <p:nvPr/>
        </p:nvSpPr>
        <p:spPr>
          <a:xfrm>
            <a:off x="677031"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1</a:t>
            </a:r>
            <a:endParaRPr lang="en-US" sz="1870" dirty="0"/>
          </a:p>
        </p:txBody>
      </p:sp>
      <p:sp>
        <p:nvSpPr>
          <p:cNvPr id="12" name="Text 7">
            <a:extLst>
              <a:ext uri="{FF2B5EF4-FFF2-40B4-BE49-F238E27FC236}">
                <a16:creationId xmlns:a16="http://schemas.microsoft.com/office/drawing/2014/main" id="{2F563EB3-0A20-29B0-F3BE-999A345787DD}"/>
              </a:ext>
            </a:extLst>
          </p:cNvPr>
          <p:cNvSpPr txBox="1"/>
          <p:nvPr/>
        </p:nvSpPr>
        <p:spPr>
          <a:xfrm>
            <a:off x="1335399" y="155464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Data Ingestion &amp; Chunking</a:t>
            </a:r>
            <a:endParaRPr lang="en-US" sz="1500" dirty="0"/>
          </a:p>
        </p:txBody>
      </p:sp>
      <p:sp>
        <p:nvSpPr>
          <p:cNvPr id="13" name="Shape 8">
            <a:extLst>
              <a:ext uri="{FF2B5EF4-FFF2-40B4-BE49-F238E27FC236}">
                <a16:creationId xmlns:a16="http://schemas.microsoft.com/office/drawing/2014/main" id="{4C591075-74BE-6B88-2A10-A2FDF00DF565}"/>
              </a:ext>
            </a:extLst>
          </p:cNvPr>
          <p:cNvSpPr/>
          <p:nvPr/>
        </p:nvSpPr>
        <p:spPr>
          <a:xfrm>
            <a:off x="6149715" y="1554641"/>
            <a:ext cx="5271516" cy="1024128"/>
          </a:xfrm>
          <a:prstGeom prst="roundRect">
            <a:avLst>
              <a:gd name="adj" fmla="val 7143"/>
            </a:avLst>
          </a:prstGeom>
          <a:solidFill>
            <a:srgbClr val="F5F7FC"/>
          </a:solidFill>
          <a:ln w="12700">
            <a:solidFill>
              <a:srgbClr val="CADCFC"/>
            </a:solidFill>
            <a:prstDash val="solid"/>
          </a:ln>
        </p:spPr>
      </p:sp>
      <p:sp>
        <p:nvSpPr>
          <p:cNvPr id="14" name="Shape 9">
            <a:extLst>
              <a:ext uri="{FF2B5EF4-FFF2-40B4-BE49-F238E27FC236}">
                <a16:creationId xmlns:a16="http://schemas.microsoft.com/office/drawing/2014/main" id="{A17FCF80-8FA0-E4B4-AB0C-5944343B231B}"/>
              </a:ext>
            </a:extLst>
          </p:cNvPr>
          <p:cNvSpPr/>
          <p:nvPr/>
        </p:nvSpPr>
        <p:spPr>
          <a:xfrm>
            <a:off x="6314307" y="1815245"/>
            <a:ext cx="502920" cy="502920"/>
          </a:xfrm>
          <a:prstGeom prst="ellipse">
            <a:avLst/>
          </a:prstGeom>
          <a:solidFill>
            <a:srgbClr val="1E2761"/>
          </a:solidFill>
          <a:ln/>
        </p:spPr>
      </p:sp>
      <p:sp>
        <p:nvSpPr>
          <p:cNvPr id="15" name="Text 10">
            <a:extLst>
              <a:ext uri="{FF2B5EF4-FFF2-40B4-BE49-F238E27FC236}">
                <a16:creationId xmlns:a16="http://schemas.microsoft.com/office/drawing/2014/main" id="{28CFD482-69F8-742A-CD65-E42D8B4DE873}"/>
              </a:ext>
            </a:extLst>
          </p:cNvPr>
          <p:cNvSpPr txBox="1"/>
          <p:nvPr/>
        </p:nvSpPr>
        <p:spPr>
          <a:xfrm>
            <a:off x="6314307"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2</a:t>
            </a:r>
            <a:endParaRPr lang="en-US" sz="1870" dirty="0"/>
          </a:p>
        </p:txBody>
      </p:sp>
      <p:sp>
        <p:nvSpPr>
          <p:cNvPr id="16" name="Text 11">
            <a:extLst>
              <a:ext uri="{FF2B5EF4-FFF2-40B4-BE49-F238E27FC236}">
                <a16:creationId xmlns:a16="http://schemas.microsoft.com/office/drawing/2014/main" id="{F22BD0E9-CA5E-B269-A0D1-CDA4A760740D}"/>
              </a:ext>
            </a:extLst>
          </p:cNvPr>
          <p:cNvSpPr txBox="1"/>
          <p:nvPr/>
        </p:nvSpPr>
        <p:spPr>
          <a:xfrm>
            <a:off x="6972675" y="155464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Vector Database &amp; Embedding Storage</a:t>
            </a:r>
            <a:endParaRPr lang="en-US" sz="1500" dirty="0"/>
          </a:p>
        </p:txBody>
      </p:sp>
      <p:sp>
        <p:nvSpPr>
          <p:cNvPr id="17" name="Shape 12">
            <a:extLst>
              <a:ext uri="{FF2B5EF4-FFF2-40B4-BE49-F238E27FC236}">
                <a16:creationId xmlns:a16="http://schemas.microsoft.com/office/drawing/2014/main" id="{2896E952-EF91-A459-D08B-E75A49CA8B1B}"/>
              </a:ext>
            </a:extLst>
          </p:cNvPr>
          <p:cNvSpPr/>
          <p:nvPr/>
        </p:nvSpPr>
        <p:spPr>
          <a:xfrm>
            <a:off x="512439" y="2743361"/>
            <a:ext cx="5271516" cy="1024128"/>
          </a:xfrm>
          <a:prstGeom prst="roundRect">
            <a:avLst>
              <a:gd name="adj" fmla="val 7143"/>
            </a:avLst>
          </a:prstGeom>
          <a:solidFill>
            <a:srgbClr val="F5F7FC"/>
          </a:solidFill>
          <a:ln w="12700">
            <a:solidFill>
              <a:srgbClr val="CADCFC"/>
            </a:solidFill>
            <a:prstDash val="solid"/>
          </a:ln>
        </p:spPr>
      </p:sp>
      <p:sp>
        <p:nvSpPr>
          <p:cNvPr id="18" name="Shape 13">
            <a:extLst>
              <a:ext uri="{FF2B5EF4-FFF2-40B4-BE49-F238E27FC236}">
                <a16:creationId xmlns:a16="http://schemas.microsoft.com/office/drawing/2014/main" id="{E9CB7F38-3360-8E62-6EF5-6F078A1E3920}"/>
              </a:ext>
            </a:extLst>
          </p:cNvPr>
          <p:cNvSpPr/>
          <p:nvPr/>
        </p:nvSpPr>
        <p:spPr>
          <a:xfrm>
            <a:off x="677031" y="3003965"/>
            <a:ext cx="502920" cy="502920"/>
          </a:xfrm>
          <a:prstGeom prst="ellipse">
            <a:avLst/>
          </a:prstGeom>
          <a:solidFill>
            <a:srgbClr val="1E2761"/>
          </a:solidFill>
          <a:ln/>
        </p:spPr>
      </p:sp>
      <p:sp>
        <p:nvSpPr>
          <p:cNvPr id="19" name="Text 14">
            <a:extLst>
              <a:ext uri="{FF2B5EF4-FFF2-40B4-BE49-F238E27FC236}">
                <a16:creationId xmlns:a16="http://schemas.microsoft.com/office/drawing/2014/main" id="{E3458C21-6AF0-A10D-86D1-1FF94A7EBC12}"/>
              </a:ext>
            </a:extLst>
          </p:cNvPr>
          <p:cNvSpPr txBox="1"/>
          <p:nvPr/>
        </p:nvSpPr>
        <p:spPr>
          <a:xfrm>
            <a:off x="677031"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3</a:t>
            </a:r>
            <a:endParaRPr lang="en-US" sz="1870" dirty="0"/>
          </a:p>
        </p:txBody>
      </p:sp>
      <p:sp>
        <p:nvSpPr>
          <p:cNvPr id="20" name="Text 15">
            <a:extLst>
              <a:ext uri="{FF2B5EF4-FFF2-40B4-BE49-F238E27FC236}">
                <a16:creationId xmlns:a16="http://schemas.microsoft.com/office/drawing/2014/main" id="{92950EE7-3CC0-4089-4E74-0C9C031B3FE5}"/>
              </a:ext>
            </a:extLst>
          </p:cNvPr>
          <p:cNvSpPr txBox="1"/>
          <p:nvPr/>
        </p:nvSpPr>
        <p:spPr>
          <a:xfrm>
            <a:off x="1335399"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RBAC Policy Engine</a:t>
            </a:r>
            <a:endParaRPr lang="en-US" sz="1500" dirty="0"/>
          </a:p>
        </p:txBody>
      </p:sp>
      <p:sp>
        <p:nvSpPr>
          <p:cNvPr id="21" name="Shape 16">
            <a:extLst>
              <a:ext uri="{FF2B5EF4-FFF2-40B4-BE49-F238E27FC236}">
                <a16:creationId xmlns:a16="http://schemas.microsoft.com/office/drawing/2014/main" id="{B8D64F29-E160-BD9F-007C-F7250E7C23F0}"/>
              </a:ext>
            </a:extLst>
          </p:cNvPr>
          <p:cNvSpPr/>
          <p:nvPr/>
        </p:nvSpPr>
        <p:spPr>
          <a:xfrm>
            <a:off x="6149715" y="2743361"/>
            <a:ext cx="5271516" cy="1024128"/>
          </a:xfrm>
          <a:prstGeom prst="roundRect">
            <a:avLst>
              <a:gd name="adj" fmla="val 7143"/>
            </a:avLst>
          </a:prstGeom>
          <a:solidFill>
            <a:srgbClr val="F5F7FC"/>
          </a:solidFill>
          <a:ln w="12700">
            <a:solidFill>
              <a:srgbClr val="CADCFC"/>
            </a:solidFill>
            <a:prstDash val="solid"/>
          </a:ln>
        </p:spPr>
      </p:sp>
      <p:sp>
        <p:nvSpPr>
          <p:cNvPr id="22" name="Shape 17">
            <a:extLst>
              <a:ext uri="{FF2B5EF4-FFF2-40B4-BE49-F238E27FC236}">
                <a16:creationId xmlns:a16="http://schemas.microsoft.com/office/drawing/2014/main" id="{CF27F0C2-C498-66C7-9920-674B07F3C892}"/>
              </a:ext>
            </a:extLst>
          </p:cNvPr>
          <p:cNvSpPr/>
          <p:nvPr/>
        </p:nvSpPr>
        <p:spPr>
          <a:xfrm>
            <a:off x="6314307" y="3003965"/>
            <a:ext cx="502920" cy="502920"/>
          </a:xfrm>
          <a:prstGeom prst="ellipse">
            <a:avLst/>
          </a:prstGeom>
          <a:solidFill>
            <a:srgbClr val="1E2761"/>
          </a:solidFill>
          <a:ln/>
        </p:spPr>
      </p:sp>
      <p:sp>
        <p:nvSpPr>
          <p:cNvPr id="23" name="Text 18">
            <a:extLst>
              <a:ext uri="{FF2B5EF4-FFF2-40B4-BE49-F238E27FC236}">
                <a16:creationId xmlns:a16="http://schemas.microsoft.com/office/drawing/2014/main" id="{D5F7D005-20B8-7278-051A-6F72FCF4A831}"/>
              </a:ext>
            </a:extLst>
          </p:cNvPr>
          <p:cNvSpPr txBox="1"/>
          <p:nvPr/>
        </p:nvSpPr>
        <p:spPr>
          <a:xfrm>
            <a:off x="6314307"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4</a:t>
            </a:r>
            <a:endParaRPr lang="en-US" sz="1870" dirty="0"/>
          </a:p>
        </p:txBody>
      </p:sp>
      <p:sp>
        <p:nvSpPr>
          <p:cNvPr id="24" name="Text 19">
            <a:extLst>
              <a:ext uri="{FF2B5EF4-FFF2-40B4-BE49-F238E27FC236}">
                <a16:creationId xmlns:a16="http://schemas.microsoft.com/office/drawing/2014/main" id="{7B18C14D-1A79-F962-BDB7-CFCA36ACF276}"/>
              </a:ext>
            </a:extLst>
          </p:cNvPr>
          <p:cNvSpPr txBox="1"/>
          <p:nvPr/>
        </p:nvSpPr>
        <p:spPr>
          <a:xfrm>
            <a:off x="6972675"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Secure Authentication</a:t>
            </a:r>
            <a:endParaRPr lang="en-US" sz="1500" dirty="0"/>
          </a:p>
        </p:txBody>
      </p:sp>
      <p:sp>
        <p:nvSpPr>
          <p:cNvPr id="25" name="Shape 20">
            <a:extLst>
              <a:ext uri="{FF2B5EF4-FFF2-40B4-BE49-F238E27FC236}">
                <a16:creationId xmlns:a16="http://schemas.microsoft.com/office/drawing/2014/main" id="{AD4B2FEB-D721-B5B8-F97D-A9B74EA160E3}"/>
              </a:ext>
            </a:extLst>
          </p:cNvPr>
          <p:cNvSpPr/>
          <p:nvPr/>
        </p:nvSpPr>
        <p:spPr>
          <a:xfrm>
            <a:off x="512439" y="3932081"/>
            <a:ext cx="5271516" cy="1024128"/>
          </a:xfrm>
          <a:prstGeom prst="roundRect">
            <a:avLst>
              <a:gd name="adj" fmla="val 7143"/>
            </a:avLst>
          </a:prstGeom>
          <a:solidFill>
            <a:srgbClr val="F5F7FC"/>
          </a:solidFill>
          <a:ln w="12700">
            <a:solidFill>
              <a:srgbClr val="CADCFC"/>
            </a:solidFill>
            <a:prstDash val="solid"/>
          </a:ln>
        </p:spPr>
      </p:sp>
      <p:sp>
        <p:nvSpPr>
          <p:cNvPr id="26" name="Shape 21">
            <a:extLst>
              <a:ext uri="{FF2B5EF4-FFF2-40B4-BE49-F238E27FC236}">
                <a16:creationId xmlns:a16="http://schemas.microsoft.com/office/drawing/2014/main" id="{A43CB245-E08D-594A-21A2-C8F1316C25CB}"/>
              </a:ext>
            </a:extLst>
          </p:cNvPr>
          <p:cNvSpPr/>
          <p:nvPr/>
        </p:nvSpPr>
        <p:spPr>
          <a:xfrm>
            <a:off x="677031" y="4192685"/>
            <a:ext cx="502920" cy="502920"/>
          </a:xfrm>
          <a:prstGeom prst="ellipse">
            <a:avLst/>
          </a:prstGeom>
          <a:solidFill>
            <a:srgbClr val="1E2761"/>
          </a:solidFill>
          <a:ln/>
        </p:spPr>
      </p:sp>
      <p:sp>
        <p:nvSpPr>
          <p:cNvPr id="27" name="Text 22">
            <a:extLst>
              <a:ext uri="{FF2B5EF4-FFF2-40B4-BE49-F238E27FC236}">
                <a16:creationId xmlns:a16="http://schemas.microsoft.com/office/drawing/2014/main" id="{B82726FD-8D87-2925-EB11-D83636FB8FC2}"/>
              </a:ext>
            </a:extLst>
          </p:cNvPr>
          <p:cNvSpPr txBox="1"/>
          <p:nvPr/>
        </p:nvSpPr>
        <p:spPr>
          <a:xfrm>
            <a:off x="677031"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5</a:t>
            </a:r>
            <a:endParaRPr lang="en-US" sz="1870" dirty="0"/>
          </a:p>
        </p:txBody>
      </p:sp>
      <p:sp>
        <p:nvSpPr>
          <p:cNvPr id="28" name="Text 23">
            <a:extLst>
              <a:ext uri="{FF2B5EF4-FFF2-40B4-BE49-F238E27FC236}">
                <a16:creationId xmlns:a16="http://schemas.microsoft.com/office/drawing/2014/main" id="{65500CE8-B7CA-5114-FF69-057793ACABF3}"/>
              </a:ext>
            </a:extLst>
          </p:cNvPr>
          <p:cNvSpPr txBox="1"/>
          <p:nvPr/>
        </p:nvSpPr>
        <p:spPr>
          <a:xfrm>
            <a:off x="1335399"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RBAC-Filtered Retrieval</a:t>
            </a:r>
            <a:endParaRPr lang="en-US" sz="1500" dirty="0"/>
          </a:p>
        </p:txBody>
      </p:sp>
      <p:sp>
        <p:nvSpPr>
          <p:cNvPr id="29" name="Shape 24">
            <a:extLst>
              <a:ext uri="{FF2B5EF4-FFF2-40B4-BE49-F238E27FC236}">
                <a16:creationId xmlns:a16="http://schemas.microsoft.com/office/drawing/2014/main" id="{6E9CDA3E-400D-911A-6837-BBC17D798075}"/>
              </a:ext>
            </a:extLst>
          </p:cNvPr>
          <p:cNvSpPr/>
          <p:nvPr/>
        </p:nvSpPr>
        <p:spPr>
          <a:xfrm>
            <a:off x="6149715" y="3932081"/>
            <a:ext cx="5271516" cy="1024128"/>
          </a:xfrm>
          <a:prstGeom prst="roundRect">
            <a:avLst>
              <a:gd name="adj" fmla="val 7143"/>
            </a:avLst>
          </a:prstGeom>
          <a:solidFill>
            <a:srgbClr val="F5F7FC"/>
          </a:solidFill>
          <a:ln w="12700">
            <a:solidFill>
              <a:srgbClr val="CADCFC"/>
            </a:solidFill>
            <a:prstDash val="solid"/>
          </a:ln>
        </p:spPr>
      </p:sp>
      <p:sp>
        <p:nvSpPr>
          <p:cNvPr id="30" name="Shape 25">
            <a:extLst>
              <a:ext uri="{FF2B5EF4-FFF2-40B4-BE49-F238E27FC236}">
                <a16:creationId xmlns:a16="http://schemas.microsoft.com/office/drawing/2014/main" id="{6900283B-AE50-7FCB-EA32-5E82A7B3FD99}"/>
              </a:ext>
            </a:extLst>
          </p:cNvPr>
          <p:cNvSpPr/>
          <p:nvPr/>
        </p:nvSpPr>
        <p:spPr>
          <a:xfrm>
            <a:off x="6314307" y="4192685"/>
            <a:ext cx="502920" cy="502920"/>
          </a:xfrm>
          <a:prstGeom prst="ellipse">
            <a:avLst/>
          </a:prstGeom>
          <a:solidFill>
            <a:srgbClr val="1E2761"/>
          </a:solidFill>
          <a:ln/>
        </p:spPr>
      </p:sp>
      <p:sp>
        <p:nvSpPr>
          <p:cNvPr id="31" name="Text 26">
            <a:extLst>
              <a:ext uri="{FF2B5EF4-FFF2-40B4-BE49-F238E27FC236}">
                <a16:creationId xmlns:a16="http://schemas.microsoft.com/office/drawing/2014/main" id="{6692C8DB-812B-7221-3792-2BFA63DA9D4F}"/>
              </a:ext>
            </a:extLst>
          </p:cNvPr>
          <p:cNvSpPr txBox="1"/>
          <p:nvPr/>
        </p:nvSpPr>
        <p:spPr>
          <a:xfrm>
            <a:off x="6314307"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6</a:t>
            </a:r>
            <a:endParaRPr lang="en-US" sz="1870" dirty="0"/>
          </a:p>
        </p:txBody>
      </p:sp>
      <p:sp>
        <p:nvSpPr>
          <p:cNvPr id="32" name="Text 27">
            <a:extLst>
              <a:ext uri="{FF2B5EF4-FFF2-40B4-BE49-F238E27FC236}">
                <a16:creationId xmlns:a16="http://schemas.microsoft.com/office/drawing/2014/main" id="{C96A6EEB-8DFB-BF21-30B9-724106DE3245}"/>
              </a:ext>
            </a:extLst>
          </p:cNvPr>
          <p:cNvSpPr txBox="1"/>
          <p:nvPr/>
        </p:nvSpPr>
        <p:spPr>
          <a:xfrm>
            <a:off x="6972675"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RAG Answer Generation</a:t>
            </a:r>
            <a:endParaRPr lang="en-US" sz="1500" dirty="0"/>
          </a:p>
        </p:txBody>
      </p:sp>
      <p:sp>
        <p:nvSpPr>
          <p:cNvPr id="33" name="Shape 28">
            <a:extLst>
              <a:ext uri="{FF2B5EF4-FFF2-40B4-BE49-F238E27FC236}">
                <a16:creationId xmlns:a16="http://schemas.microsoft.com/office/drawing/2014/main" id="{CC124553-56F4-E6BF-F834-778F8585C7B1}"/>
              </a:ext>
            </a:extLst>
          </p:cNvPr>
          <p:cNvSpPr/>
          <p:nvPr/>
        </p:nvSpPr>
        <p:spPr>
          <a:xfrm>
            <a:off x="512439" y="5120801"/>
            <a:ext cx="5271516" cy="1024128"/>
          </a:xfrm>
          <a:prstGeom prst="roundRect">
            <a:avLst>
              <a:gd name="adj" fmla="val 7143"/>
            </a:avLst>
          </a:prstGeom>
          <a:solidFill>
            <a:srgbClr val="F5F7FC"/>
          </a:solidFill>
          <a:ln w="12700">
            <a:solidFill>
              <a:srgbClr val="CADCFC"/>
            </a:solidFill>
            <a:prstDash val="solid"/>
          </a:ln>
        </p:spPr>
      </p:sp>
      <p:sp>
        <p:nvSpPr>
          <p:cNvPr id="34" name="Shape 29">
            <a:extLst>
              <a:ext uri="{FF2B5EF4-FFF2-40B4-BE49-F238E27FC236}">
                <a16:creationId xmlns:a16="http://schemas.microsoft.com/office/drawing/2014/main" id="{2D3BA62B-94C7-C20B-AE12-ADBE13330335}"/>
              </a:ext>
            </a:extLst>
          </p:cNvPr>
          <p:cNvSpPr/>
          <p:nvPr/>
        </p:nvSpPr>
        <p:spPr>
          <a:xfrm>
            <a:off x="677031" y="5381405"/>
            <a:ext cx="502920" cy="502920"/>
          </a:xfrm>
          <a:prstGeom prst="ellipse">
            <a:avLst/>
          </a:prstGeom>
          <a:solidFill>
            <a:srgbClr val="1E2761"/>
          </a:solidFill>
          <a:ln/>
        </p:spPr>
      </p:sp>
      <p:sp>
        <p:nvSpPr>
          <p:cNvPr id="35" name="Text 30">
            <a:extLst>
              <a:ext uri="{FF2B5EF4-FFF2-40B4-BE49-F238E27FC236}">
                <a16:creationId xmlns:a16="http://schemas.microsoft.com/office/drawing/2014/main" id="{343C3D93-274B-78C7-5C3A-B1334C69ADFC}"/>
              </a:ext>
            </a:extLst>
          </p:cNvPr>
          <p:cNvSpPr txBox="1"/>
          <p:nvPr/>
        </p:nvSpPr>
        <p:spPr>
          <a:xfrm>
            <a:off x="677031"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7</a:t>
            </a:r>
            <a:endParaRPr lang="en-US" sz="1870" dirty="0"/>
          </a:p>
        </p:txBody>
      </p:sp>
      <p:sp>
        <p:nvSpPr>
          <p:cNvPr id="36" name="Text 31">
            <a:extLst>
              <a:ext uri="{FF2B5EF4-FFF2-40B4-BE49-F238E27FC236}">
                <a16:creationId xmlns:a16="http://schemas.microsoft.com/office/drawing/2014/main" id="{76A0DD45-803F-C074-3185-7871DEB98D04}"/>
              </a:ext>
            </a:extLst>
          </p:cNvPr>
          <p:cNvSpPr txBox="1"/>
          <p:nvPr/>
        </p:nvSpPr>
        <p:spPr>
          <a:xfrm>
            <a:off x="1335399"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Admin &amp; Audit Module</a:t>
            </a:r>
            <a:endParaRPr lang="en-US" sz="1500" dirty="0"/>
          </a:p>
        </p:txBody>
      </p:sp>
      <p:sp>
        <p:nvSpPr>
          <p:cNvPr id="37" name="Shape 32">
            <a:extLst>
              <a:ext uri="{FF2B5EF4-FFF2-40B4-BE49-F238E27FC236}">
                <a16:creationId xmlns:a16="http://schemas.microsoft.com/office/drawing/2014/main" id="{AB4BAD79-BCE7-CA02-4904-AD55CD988481}"/>
              </a:ext>
            </a:extLst>
          </p:cNvPr>
          <p:cNvSpPr/>
          <p:nvPr/>
        </p:nvSpPr>
        <p:spPr>
          <a:xfrm>
            <a:off x="6149715" y="5120801"/>
            <a:ext cx="5271516" cy="1024128"/>
          </a:xfrm>
          <a:prstGeom prst="roundRect">
            <a:avLst>
              <a:gd name="adj" fmla="val 7143"/>
            </a:avLst>
          </a:prstGeom>
          <a:solidFill>
            <a:srgbClr val="F5F7FC"/>
          </a:solidFill>
          <a:ln w="12700">
            <a:solidFill>
              <a:srgbClr val="CADCFC"/>
            </a:solidFill>
            <a:prstDash val="solid"/>
          </a:ln>
        </p:spPr>
      </p:sp>
      <p:sp>
        <p:nvSpPr>
          <p:cNvPr id="38" name="Shape 33">
            <a:extLst>
              <a:ext uri="{FF2B5EF4-FFF2-40B4-BE49-F238E27FC236}">
                <a16:creationId xmlns:a16="http://schemas.microsoft.com/office/drawing/2014/main" id="{C93BAD41-348D-B7D0-74DD-5FC2FD5381B4}"/>
              </a:ext>
            </a:extLst>
          </p:cNvPr>
          <p:cNvSpPr/>
          <p:nvPr/>
        </p:nvSpPr>
        <p:spPr>
          <a:xfrm>
            <a:off x="6314307" y="5381405"/>
            <a:ext cx="502920" cy="502920"/>
          </a:xfrm>
          <a:prstGeom prst="ellipse">
            <a:avLst/>
          </a:prstGeom>
          <a:solidFill>
            <a:srgbClr val="1E2761"/>
          </a:solidFill>
          <a:ln/>
        </p:spPr>
      </p:sp>
      <p:sp>
        <p:nvSpPr>
          <p:cNvPr id="39" name="Text 34">
            <a:extLst>
              <a:ext uri="{FF2B5EF4-FFF2-40B4-BE49-F238E27FC236}">
                <a16:creationId xmlns:a16="http://schemas.microsoft.com/office/drawing/2014/main" id="{9AFFDC99-7B64-D5E2-E919-CE6B7B76E20D}"/>
              </a:ext>
            </a:extLst>
          </p:cNvPr>
          <p:cNvSpPr txBox="1"/>
          <p:nvPr/>
        </p:nvSpPr>
        <p:spPr>
          <a:xfrm>
            <a:off x="6314307"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8</a:t>
            </a:r>
            <a:endParaRPr lang="en-US" sz="1870" dirty="0"/>
          </a:p>
        </p:txBody>
      </p:sp>
      <p:sp>
        <p:nvSpPr>
          <p:cNvPr id="40" name="Text 35">
            <a:extLst>
              <a:ext uri="{FF2B5EF4-FFF2-40B4-BE49-F238E27FC236}">
                <a16:creationId xmlns:a16="http://schemas.microsoft.com/office/drawing/2014/main" id="{C057E582-1514-A263-ED8E-C0F864DB539D}"/>
              </a:ext>
            </a:extLst>
          </p:cNvPr>
          <p:cNvSpPr txBox="1"/>
          <p:nvPr/>
        </p:nvSpPr>
        <p:spPr>
          <a:xfrm>
            <a:off x="6972675"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Web Frontend (Node.js)</a:t>
            </a:r>
            <a:endParaRPr lang="en-US" sz="1500" dirty="0"/>
          </a:p>
        </p:txBody>
      </p:sp>
    </p:spTree>
    <p:extLst>
      <p:ext uri="{BB962C8B-B14F-4D97-AF65-F5344CB8AC3E}">
        <p14:creationId xmlns:p14="http://schemas.microsoft.com/office/powerpoint/2010/main" val="118736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Document Loading, Cleaning, and Segmentation</a:t>
            </a:r>
          </a:p>
          <a:p>
            <a:pPr marL="0" indent="0">
              <a:buNone/>
            </a:pPr>
            <a:endParaRPr lang="en-US" dirty="0">
              <a:solidFill>
                <a:srgbClr val="5583D1"/>
              </a:solidFill>
              <a:latin typeface="+mn-lt"/>
            </a:endParaRPr>
          </a:p>
          <a:p>
            <a:pPr lvl="1" algn="just"/>
            <a:r>
              <a:rPr lang="en-US" sz="2800" dirty="0">
                <a:solidFill>
                  <a:srgbClr val="2A2E43"/>
                </a:solidFill>
                <a:ea typeface="Calibri" pitchFamily="34" charset="-122"/>
                <a:cs typeface="Calibri" pitchFamily="34" charset="-120"/>
              </a:rPr>
              <a:t>Synthetic enterprise documents are generated across departments and confidentiality levels. Each document is split into overlapping character-based chunks, and every chunk retains metadata linking it back to its department and confidentiality level for later access control.</a:t>
            </a:r>
            <a:endParaRPr lang="en-US" sz="2800" dirty="0"/>
          </a:p>
          <a:p>
            <a:pPr lvl="1"/>
            <a:endParaRPr lang="en-US" dirty="0">
              <a:solidFill>
                <a:srgbClr val="1C3898"/>
              </a:solidFill>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1. </a:t>
            </a:r>
            <a:r>
              <a:rPr lang="en-US" sz="3600" b="1" dirty="0">
                <a:solidFill>
                  <a:srgbClr val="5B9BD5">
                    <a:lumMod val="50000"/>
                  </a:srgbClr>
                </a:solidFill>
              </a:rPr>
              <a:t>Data Ingestion &amp; Chunking</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CAE54CC-2EB2-26E6-12F9-36ECBF945EDD}"/>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7BDD8723-FBD3-689C-E246-39F806E767DC}"/>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8222288F-2592-2931-9AB9-460C9363F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A00AA-51F2-8125-FC5F-E29D327E703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2AB5B8-02D7-2681-5164-9143E9DE3E9A}"/>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a:t>
            </a:r>
            <a:r>
              <a:rPr lang="en-US" dirty="0" err="1">
                <a:solidFill>
                  <a:srgbClr val="5583D1"/>
                </a:solidFill>
                <a:latin typeface="+mn-lt"/>
              </a:rPr>
              <a:t>ChromaDB</a:t>
            </a:r>
            <a:r>
              <a:rPr lang="en-US" dirty="0">
                <a:solidFill>
                  <a:srgbClr val="5583D1"/>
                </a:solidFill>
                <a:latin typeface="+mn-lt"/>
              </a:rPr>
              <a:t> with Metadata-Tagged Embeddings</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Each chunk is embedded using a local sentence-transformer model and stored in a persistent </a:t>
            </a:r>
            <a:r>
              <a:rPr lang="en-US" sz="2800" dirty="0" err="1">
                <a:solidFill>
                  <a:srgbClr val="2A2E43"/>
                </a:solidFill>
                <a:latin typeface="Calibri" pitchFamily="34" charset="0"/>
                <a:ea typeface="Calibri" pitchFamily="34" charset="-122"/>
                <a:cs typeface="Calibri" pitchFamily="34" charset="-120"/>
              </a:rPr>
              <a:t>ChromaDB</a:t>
            </a:r>
            <a:r>
              <a:rPr lang="en-US" sz="2800" dirty="0">
                <a:solidFill>
                  <a:srgbClr val="2A2E43"/>
                </a:solidFill>
                <a:latin typeface="Calibri" pitchFamily="34" charset="0"/>
                <a:ea typeface="Calibri" pitchFamily="34" charset="-122"/>
                <a:cs typeface="Calibri" pitchFamily="34" charset="-120"/>
              </a:rPr>
              <a:t> collection. Every embedding is stored alongside department and confidentiality metadata, enabling metadata-based filtering during search.</a:t>
            </a:r>
            <a:endParaRPr lang="en-US" dirty="0">
              <a:solidFill>
                <a:srgbClr val="1C3898"/>
              </a:solidFill>
            </a:endParaRPr>
          </a:p>
        </p:txBody>
      </p:sp>
      <p:sp>
        <p:nvSpPr>
          <p:cNvPr id="3" name="TextBox 2">
            <a:extLst>
              <a:ext uri="{FF2B5EF4-FFF2-40B4-BE49-F238E27FC236}">
                <a16:creationId xmlns:a16="http://schemas.microsoft.com/office/drawing/2014/main" id="{E797C6E4-46C6-EFB7-91E2-E784E95763C9}"/>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2. </a:t>
            </a:r>
            <a:r>
              <a:rPr lang="en-US" sz="3600" b="1" dirty="0">
                <a:solidFill>
                  <a:srgbClr val="5B9BD5">
                    <a:lumMod val="50000"/>
                  </a:srgbClr>
                </a:solidFill>
              </a:rPr>
              <a:t>Vector Database &amp; Embedding Storage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B8ABF908-A2CE-CF4E-FFF5-54A6ADF6689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B1C607C-667A-997A-4180-0B2860A63E88}"/>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F1B2BFC0-931F-FBC5-E358-760279B9BF5E}"/>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571A73DB-881B-FA12-FD73-FCA54B4D06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449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23BEB-A551-59AB-8BB8-1BFE7952FFA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E06473B-A488-41E5-CA66-A10125330724}"/>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Roles, Departments, and Confidentiality Levels</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Nine roles, from Intern to Admin, are mapped to allowed departments and a maximum confidentiality ceiling. Access is granted only when both the department check and the confidentiality check pass, mirroring real enterprise access models.</a:t>
            </a:r>
            <a:endParaRPr lang="en-US" dirty="0">
              <a:solidFill>
                <a:srgbClr val="1C3898"/>
              </a:solidFill>
            </a:endParaRPr>
          </a:p>
        </p:txBody>
      </p:sp>
      <p:sp>
        <p:nvSpPr>
          <p:cNvPr id="3" name="TextBox 2">
            <a:extLst>
              <a:ext uri="{FF2B5EF4-FFF2-40B4-BE49-F238E27FC236}">
                <a16:creationId xmlns:a16="http://schemas.microsoft.com/office/drawing/2014/main" id="{6B0A5816-4DA1-2D68-822A-9D9773F5763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3. </a:t>
            </a:r>
            <a:r>
              <a:rPr lang="en-US" sz="3600" b="1" dirty="0">
                <a:solidFill>
                  <a:srgbClr val="5B9BD5">
                    <a:lumMod val="50000"/>
                  </a:srgbClr>
                </a:solidFill>
              </a:rPr>
              <a:t>RBAC Policy Engine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41097C01-08F6-10B8-B4C2-AD99CE2BCC5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6357B2-1EF2-B05F-79D3-E588447B376C}"/>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55A4A912-549E-9024-111B-B922D89B81BD}"/>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DAC9D760-C3FC-A0D8-DBB5-7352460C9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19628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E9FC3-3FF5-C3D3-1E2C-32AC91C77B2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7B6FBDD-F926-9752-7B4F-27CEAADCE94C}"/>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Salted Password Hashing &amp; Session Tokens</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Salted Password Hashing &amp; Session </a:t>
            </a:r>
            <a:r>
              <a:rPr lang="en-US" sz="2800" dirty="0" err="1">
                <a:solidFill>
                  <a:srgbClr val="2A2E43"/>
                </a:solidFill>
                <a:latin typeface="Calibri" pitchFamily="34" charset="0"/>
                <a:ea typeface="Calibri" pitchFamily="34" charset="-122"/>
                <a:cs typeface="Calibri" pitchFamily="34" charset="-120"/>
              </a:rPr>
              <a:t>TokensUser</a:t>
            </a:r>
            <a:r>
              <a:rPr lang="en-US" sz="2800" dirty="0">
                <a:solidFill>
                  <a:srgbClr val="2A2E43"/>
                </a:solidFill>
                <a:latin typeface="Calibri" pitchFamily="34" charset="0"/>
                <a:ea typeface="Calibri" pitchFamily="34" charset="-122"/>
                <a:cs typeface="Calibri" pitchFamily="34" charset="-120"/>
              </a:rPr>
              <a:t> credentials are verified using PBKDF2-HMAC-SHA256 with a unique salt per user. A successful login issues a time-limited session token, and every login attempt — successful or failed — is recorded in an audit log.</a:t>
            </a:r>
            <a:endParaRPr lang="en-US" dirty="0">
              <a:solidFill>
                <a:srgbClr val="1C3898"/>
              </a:solidFill>
            </a:endParaRPr>
          </a:p>
        </p:txBody>
      </p:sp>
      <p:sp>
        <p:nvSpPr>
          <p:cNvPr id="3" name="TextBox 2">
            <a:extLst>
              <a:ext uri="{FF2B5EF4-FFF2-40B4-BE49-F238E27FC236}">
                <a16:creationId xmlns:a16="http://schemas.microsoft.com/office/drawing/2014/main" id="{EEE0A45A-3509-55A5-0ECB-9E15819190F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4. </a:t>
            </a:r>
            <a:r>
              <a:rPr lang="en-US" sz="3600" b="1" dirty="0">
                <a:solidFill>
                  <a:srgbClr val="5B9BD5">
                    <a:lumMod val="50000"/>
                  </a:srgbClr>
                </a:solidFill>
              </a:rPr>
              <a:t>Secure Authentication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AF274488-6EC8-4661-62D6-D6DA942AE8A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8512103-A84C-9871-E5B3-2D380BB31501}"/>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2E8CE4EE-D19B-3F51-20AD-4330F2A25032}"/>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C20F0E7A-B6C2-BAF3-0ED4-DF18D3BCC9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84669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857BC-0B59-D641-42D7-5EC9EE0D6A6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AD43E42-68BE-E7D9-92C6-894C9F14BFE5}"/>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Two-Layer Access Enforcement</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A user's query is filtered at the database level using a metadata WHERE clause, then re-checked in application code before any chunk reaches the language model. This defense-in-depth approach keeps unauthorized content out even if one layer is misconfigured.</a:t>
            </a:r>
            <a:endParaRPr lang="en-US" dirty="0">
              <a:solidFill>
                <a:srgbClr val="1C3898"/>
              </a:solidFill>
            </a:endParaRPr>
          </a:p>
        </p:txBody>
      </p:sp>
      <p:sp>
        <p:nvSpPr>
          <p:cNvPr id="3" name="TextBox 2">
            <a:extLst>
              <a:ext uri="{FF2B5EF4-FFF2-40B4-BE49-F238E27FC236}">
                <a16:creationId xmlns:a16="http://schemas.microsoft.com/office/drawing/2014/main" id="{5B6819DA-A2AB-BB7A-0C94-959C24A58AD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5. </a:t>
            </a:r>
            <a:r>
              <a:rPr lang="en-US" sz="3600" b="1" dirty="0">
                <a:solidFill>
                  <a:srgbClr val="5B9BD5">
                    <a:lumMod val="50000"/>
                  </a:srgbClr>
                </a:solidFill>
              </a:rPr>
              <a:t>RBAC-Filtered Retrieval</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DC925C36-CA53-8797-EB73-9543F85AF54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7DB557F-E958-6C88-4A42-86ADD63209F1}"/>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DBE57332-62A3-B9CD-5653-83AD99EFDEFE}"/>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888DD588-F436-0E73-4AA2-349DD8B687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27681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72A05-1F6C-08BC-2745-8EBFF8704FE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660CA3F-644B-7F8B-3166-5C786A3039DF}"/>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Grounded LLM Responses</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Only RBAC-approved chunks are passed to the language model, which is instructed to answer strictly from the provided context and cite sources. When no API key is configured, the system falls back to an extractive answer built directly from the retrieved chunks.</a:t>
            </a:r>
            <a:endParaRPr lang="en-US" dirty="0">
              <a:solidFill>
                <a:srgbClr val="1C3898"/>
              </a:solidFill>
            </a:endParaRPr>
          </a:p>
        </p:txBody>
      </p:sp>
      <p:sp>
        <p:nvSpPr>
          <p:cNvPr id="3" name="TextBox 2">
            <a:extLst>
              <a:ext uri="{FF2B5EF4-FFF2-40B4-BE49-F238E27FC236}">
                <a16:creationId xmlns:a16="http://schemas.microsoft.com/office/drawing/2014/main" id="{11E05005-A3AD-CF6A-51F3-CCD7AA9FDBB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6. </a:t>
            </a:r>
            <a:r>
              <a:rPr lang="en-US" sz="3600" b="1" dirty="0">
                <a:solidFill>
                  <a:srgbClr val="5B9BD5">
                    <a:lumMod val="50000"/>
                  </a:srgbClr>
                </a:solidFill>
              </a:rPr>
              <a:t>RAG Answer Generation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D44761E6-8CC7-192B-C938-D5D587DA6D5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C07621B-EA72-2C3F-E707-AACB7F640472}"/>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90F244FC-EB57-8FE0-8B2C-DD00D1322433}"/>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037856BF-388B-753F-2D15-8676B6B1C5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9975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D28A2-05D7-4FCD-3B9E-A48F90CB712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080C6DB-C118-2F02-8677-F3DF28DAD651}"/>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User Management and Login Monitoring</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Administrators can add or remove user accounts and assign roles through a dedicated panel. Every login attempt is logged with timestamp, username, result, and IP address, and the full history can be exported as a CSV file.</a:t>
            </a:r>
            <a:endParaRPr lang="en-US" dirty="0">
              <a:solidFill>
                <a:srgbClr val="1C3898"/>
              </a:solidFill>
            </a:endParaRPr>
          </a:p>
        </p:txBody>
      </p:sp>
      <p:sp>
        <p:nvSpPr>
          <p:cNvPr id="3" name="TextBox 2">
            <a:extLst>
              <a:ext uri="{FF2B5EF4-FFF2-40B4-BE49-F238E27FC236}">
                <a16:creationId xmlns:a16="http://schemas.microsoft.com/office/drawing/2014/main" id="{A220A575-A5D9-8425-3C05-30EEDE43F10F}"/>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7. </a:t>
            </a:r>
            <a:r>
              <a:rPr lang="en-US" sz="3600" b="1" dirty="0">
                <a:solidFill>
                  <a:srgbClr val="5B9BD5">
                    <a:lumMod val="50000"/>
                  </a:srgbClr>
                </a:solidFill>
              </a:rPr>
              <a:t>Admin &amp; Audit Module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8747BEF2-693B-178B-FD37-60AD38E69C7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AE6A186-81EF-F481-261F-B612DF447BA5}"/>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9AD2CEFB-F775-257D-97A2-5FC8D21CA591}"/>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78F45002-822E-6B96-BF80-C0D0AE2795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1299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29C80-05A9-AAF8-8BAF-D5959AA916F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E09221B-83E0-9821-1C07-866607D80735}"/>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Express-Based User Interface</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A Node.js/Express server provides login, chat, and admin pages, proxying requests to the Python backend while keeping session tokens server-side. Answers render with Markdown formatting, and each source document displays its department and confidentiality label.</a:t>
            </a:r>
            <a:endParaRPr lang="en-US" dirty="0">
              <a:solidFill>
                <a:srgbClr val="1C3898"/>
              </a:solidFill>
            </a:endParaRPr>
          </a:p>
        </p:txBody>
      </p:sp>
      <p:sp>
        <p:nvSpPr>
          <p:cNvPr id="3" name="TextBox 2">
            <a:extLst>
              <a:ext uri="{FF2B5EF4-FFF2-40B4-BE49-F238E27FC236}">
                <a16:creationId xmlns:a16="http://schemas.microsoft.com/office/drawing/2014/main" id="{A5EF7021-586D-2CF8-47C8-9195150D5D4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8. </a:t>
            </a:r>
            <a:r>
              <a:rPr lang="en-US" sz="3600" b="1" dirty="0">
                <a:solidFill>
                  <a:srgbClr val="5B9BD5">
                    <a:lumMod val="50000"/>
                  </a:srgbClr>
                </a:solidFill>
              </a:rPr>
              <a:t>Web Frontend (Node.js)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2E44CA93-476B-2067-6524-327DEFFCBCC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A8F8C38-AC5A-2F62-8372-BDC174BA0408}"/>
              </a:ext>
            </a:extLst>
          </p:cNvPr>
          <p:cNvSpPr txBox="1"/>
          <p:nvPr/>
        </p:nvSpPr>
        <p:spPr>
          <a:xfrm>
            <a:off x="4091234" y="0"/>
            <a:ext cx="8279876" cy="646331"/>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RAG for Secure Enterprise</a:t>
            </a:r>
            <a:r>
              <a:rPr lang="en-US" dirty="0"/>
              <a:t> </a:t>
            </a:r>
            <a:r>
              <a:rPr lang="en-US" b="1" dirty="0">
                <a:solidFill>
                  <a:srgbClr val="FFFFFF"/>
                </a:solidFill>
                <a:latin typeface="Calibri" pitchFamily="34" charset="0"/>
                <a:ea typeface="Calibri" pitchFamily="34" charset="-122"/>
                <a:cs typeface="Calibri" pitchFamily="34" charset="-120"/>
              </a:rPr>
              <a:t>Document Intelligence Using Role-Based Access Control (RBAC)</a:t>
            </a:r>
          </a:p>
        </p:txBody>
      </p:sp>
      <p:sp>
        <p:nvSpPr>
          <p:cNvPr id="7" name="Rectangle 6">
            <a:extLst>
              <a:ext uri="{FF2B5EF4-FFF2-40B4-BE49-F238E27FC236}">
                <a16:creationId xmlns:a16="http://schemas.microsoft.com/office/drawing/2014/main" id="{258C022B-B337-0E18-4125-F8797C661900}"/>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4B795FC3-D0EC-C2C5-A2F2-A7E5432530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0811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481</TotalTime>
  <Words>1013</Words>
  <Application>Microsoft Office PowerPoint</Application>
  <PresentationFormat>Widescreen</PresentationFormat>
  <Paragraphs>115</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(Body)</vt:lpstr>
      <vt:lpstr>Calibri Light</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VINOTH KANNA.S</cp:lastModifiedBy>
  <cp:revision>12</cp:revision>
  <dcterms:created xsi:type="dcterms:W3CDTF">2024-05-13T10:33:11Z</dcterms:created>
  <dcterms:modified xsi:type="dcterms:W3CDTF">2026-09-06T12:03:21Z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