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50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B9ED"/>
    <a:srgbClr val="30BBDA"/>
    <a:srgbClr val="FFFFFF"/>
    <a:srgbClr val="47BDAE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34616" y="1631542"/>
            <a:ext cx="114281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 &amp; Explainable Trust Assessment</a:t>
            </a:r>
          </a:p>
          <a:p>
            <a:pPr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VINOTH KANNA S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000795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0C71D-D9A7-2E72-176A-2DAF9A8E5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Fake news spreads rapidly through social media and digital platforms.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Traditional fact-checking is slow and difficult to scale.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Existing AI models often give results without clear reasoning.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This project uses Agentic AI to verify claims, collect evidence, and provide an explainable trust score.</a:t>
            </a:r>
          </a:p>
          <a:p>
            <a:pPr>
              <a:lnSpc>
                <a:spcPct val="150000"/>
              </a:lnSpc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BCCFA-EF04-B2CC-C841-FEA7F8E80249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1E1CD245-7E67-BEF3-30D0-C2048685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Build a Multi-Agent System – Use Claim Extraction Agent, Evidence Retrieval Agent, Source Credibility Agent, Cross-Reference Agent, and Verdict Agent for automated fact-checking.</a:t>
            </a:r>
          </a:p>
          <a:p>
            <a:pPr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Verify Claims – Analyze evidence and source credibility through cross-checking.</a:t>
            </a:r>
          </a:p>
          <a:p>
            <a:pPr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Generate Trust Scores – Provide explainable trust scores with confidence levels.</a:t>
            </a:r>
          </a:p>
          <a:p>
            <a:pPr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Reduce Bias &amp; Ensure Auditability – Use self-checking and maintain an evidence trail.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C4E5AD-F938-3DF0-87EB-B33473518C21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49017-0E91-F5C7-E849-0D494C0313E7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72D1A61C-8BDB-B51A-40AE-E9C0B25CB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Document ingestion, chunking, and embedding generation.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RBAC across 9 roles, 7 departments, 4 confidentiality tiers.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Secure authentication with salted password hashing.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LLM-based generation with a non-LLM extractive fallback.</a:t>
            </a:r>
          </a:p>
          <a:p>
            <a:pPr>
              <a:lnSpc>
                <a:spcPct val="150000"/>
              </a:lnSpc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EB008A-04BB-C5A3-794B-0DC2B0523E0F}"/>
              </a:ext>
            </a:extLst>
          </p:cNvPr>
          <p:cNvSpPr txBox="1"/>
          <p:nvPr/>
        </p:nvSpPr>
        <p:spPr>
          <a:xfrm>
            <a:off x="4081808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AutoShape 2" descr="LTIMindtree Logo">
            <a:extLst>
              <a:ext uri="{FF2B5EF4-FFF2-40B4-BE49-F238E27FC236}">
                <a16:creationId xmlns:a16="http://schemas.microsoft.com/office/drawing/2014/main" id="{23863276-72E5-30AB-392D-D8D21A2E79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632E79-658D-9E93-B5C2-C0CA952E704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030" name="Picture 6" descr="LTM Limited (Formerly LTIMindtree Limited)">
            <a:extLst>
              <a:ext uri="{FF2B5EF4-FFF2-40B4-BE49-F238E27FC236}">
                <a16:creationId xmlns:a16="http://schemas.microsoft.com/office/drawing/2014/main" id="{71A73E9E-CECD-2252-34B1-1B287A4B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D11724-79D4-0638-9C05-77425B9500D4}"/>
              </a:ext>
            </a:extLst>
          </p:cNvPr>
          <p:cNvSpPr txBox="1"/>
          <p:nvPr/>
        </p:nvSpPr>
        <p:spPr>
          <a:xfrm>
            <a:off x="4138369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410BF-B4C4-99E4-35F5-40F8DD991A55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F7670379-0AD4-EBD9-8789-3B3BAF88A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FAB992-4D74-1106-0369-20BD8D614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322731"/>
              </p:ext>
            </p:extLst>
          </p:nvPr>
        </p:nvGraphicFramePr>
        <p:xfrm>
          <a:off x="1121787" y="1409030"/>
          <a:ext cx="10331778" cy="4606557"/>
        </p:xfrm>
        <a:graphic>
          <a:graphicData uri="http://schemas.openxmlformats.org/drawingml/2006/table">
            <a:tbl>
              <a:tblPr/>
              <a:tblGrid>
                <a:gridCol w="838988">
                  <a:extLst>
                    <a:ext uri="{9D8B030D-6E8A-4147-A177-3AD203B41FA5}">
                      <a16:colId xmlns:a16="http://schemas.microsoft.com/office/drawing/2014/main" val="2902145620"/>
                    </a:ext>
                  </a:extLst>
                </a:gridCol>
                <a:gridCol w="2604938">
                  <a:extLst>
                    <a:ext uri="{9D8B030D-6E8A-4147-A177-3AD203B41FA5}">
                      <a16:colId xmlns:a16="http://schemas.microsoft.com/office/drawing/2014/main" val="1119622052"/>
                    </a:ext>
                  </a:extLst>
                </a:gridCol>
                <a:gridCol w="1835087">
                  <a:extLst>
                    <a:ext uri="{9D8B030D-6E8A-4147-A177-3AD203B41FA5}">
                      <a16:colId xmlns:a16="http://schemas.microsoft.com/office/drawing/2014/main" val="3213140653"/>
                    </a:ext>
                  </a:extLst>
                </a:gridCol>
                <a:gridCol w="1608839">
                  <a:extLst>
                    <a:ext uri="{9D8B030D-6E8A-4147-A177-3AD203B41FA5}">
                      <a16:colId xmlns:a16="http://schemas.microsoft.com/office/drawing/2014/main" val="4001856758"/>
                    </a:ext>
                  </a:extLst>
                </a:gridCol>
                <a:gridCol w="1721963">
                  <a:extLst>
                    <a:ext uri="{9D8B030D-6E8A-4147-A177-3AD203B41FA5}">
                      <a16:colId xmlns:a16="http://schemas.microsoft.com/office/drawing/2014/main" val="3597237328"/>
                    </a:ext>
                  </a:extLst>
                </a:gridCol>
                <a:gridCol w="1721963">
                  <a:extLst>
                    <a:ext uri="{9D8B030D-6E8A-4147-A177-3AD203B41FA5}">
                      <a16:colId xmlns:a16="http://schemas.microsoft.com/office/drawing/2014/main" val="581034660"/>
                    </a:ext>
                  </a:extLst>
                </a:gridCol>
              </a:tblGrid>
              <a:tr h="3753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No.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Paper Title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Authors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Year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Conference / Journal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Relevance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825890"/>
                  </a:ext>
                </a:extLst>
              </a:tr>
              <a:tr h="1340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IN" sz="14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Retrieval Augmented Generation Based Explainable Fact-Checking Using Knowledge Graphs</a:t>
                      </a:r>
                      <a:endParaRPr lang="en-US" sz="14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Authors listed in IEEE Xplore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2025</a:t>
                      </a:r>
                      <a:endParaRPr lang="en-IN" sz="14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IEEE International Conference on Recent Advances in Computing and Systems (REACS)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Uses 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RAG + Knowledge Graphs</a:t>
                      </a:r>
                      <a:r>
                        <a:rPr lang="en-US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for evidence-based and explainable fact-checking. 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725809"/>
                  </a:ext>
                </a:extLst>
              </a:tr>
              <a:tr h="1340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IN" sz="14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Fact-Checking With Contextual Narratives: Leveraging Retrieval-Augmented LLMs for Social Media Analysis</a:t>
                      </a:r>
                      <a:endParaRPr lang="en-US" sz="14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Authors listed in IEEE Xplore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2026</a:t>
                      </a:r>
                      <a:endParaRPr lang="en-IN" sz="14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IEEE Transactions on Computational Social Systems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Uses 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RAG, LLMs and agent-based evidence refinement</a:t>
                      </a:r>
                      <a:r>
                        <a:rPr lang="en-US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for multimodal misinformation verification. 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257564"/>
                  </a:ext>
                </a:extLst>
              </a:tr>
              <a:tr h="1501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en-IN" sz="14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b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Multi-agent systems and credibility-based advanced scoring mechanism in fact-checking</a:t>
                      </a:r>
                      <a:endParaRPr lang="en-US" sz="14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Yihan Dong, Takayuki Ito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2026</a:t>
                      </a:r>
                      <a:endParaRPr lang="en-IN" sz="14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Scientific Reports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Proposes </a:t>
                      </a:r>
                      <a:r>
                        <a:rPr lang="en-US" sz="1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multi-agent fact-checking and credibility-based scoring</a:t>
                      </a:r>
                      <a:r>
                        <a:rPr lang="en-US" sz="1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 closely matching your multi-agent trust-score approach.</a:t>
                      </a:r>
                    </a:p>
                  </a:txBody>
                  <a:tcPr marL="56403" marR="56403" marT="28201" marB="28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800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15EC13-6748-BAD4-C953-D2A3E4369998}"/>
              </a:ext>
            </a:extLst>
          </p:cNvPr>
          <p:cNvSpPr txBox="1"/>
          <p:nvPr/>
        </p:nvSpPr>
        <p:spPr>
          <a:xfrm>
            <a:off x="4128942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7AA17C-FCAD-A298-06DE-E306ACF48D6D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3BEDBD5B-E67C-7B6B-7835-B458F355F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399A00-A386-A75A-5596-8DBF03012231}"/>
              </a:ext>
            </a:extLst>
          </p:cNvPr>
          <p:cNvSpPr txBox="1"/>
          <p:nvPr/>
        </p:nvSpPr>
        <p:spPr>
          <a:xfrm>
            <a:off x="487062" y="1651421"/>
            <a:ext cx="11368240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83D1"/>
                </a:solidFill>
                <a:cs typeface="Calibri" panose="020F0502020204030204" pitchFamily="34" charset="0"/>
              </a:rPr>
              <a:t>RAG-Based Fact-Checking (2025): Improves fake news verification by retrieving relevant evidence and providing explainable results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83D1"/>
                </a:solidFill>
                <a:cs typeface="Calibri" panose="020F0502020204030204" pitchFamily="34" charset="0"/>
              </a:rPr>
              <a:t>RAG with LLMs (2026): Combines retrieval and language models to improve factual accuracy and evidence-based verification.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83D1"/>
                </a:solidFill>
                <a:cs typeface="Calibri" panose="020F0502020204030204" pitchFamily="34" charset="0"/>
              </a:rPr>
              <a:t>Multi-Agent Fact-Checking (2026): Uses multiple specialized agents and credibility scoring to improve verification reliability.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5583D1"/>
                </a:solidFill>
                <a:cs typeface="Calibri" panose="020F0502020204030204" pitchFamily="34" charset="0"/>
              </a:rPr>
              <a:t>Research Gap: Existing methods focus mainly on individual techniques; this project combines multi-agent verification, evidence retrieval, credibility assessment, and explainable trust scoring.</a:t>
            </a:r>
            <a:endParaRPr lang="en-IN" sz="2400" dirty="0">
              <a:solidFill>
                <a:srgbClr val="5583D1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7018"/>
            <a:ext cx="10624338" cy="4142989"/>
          </a:xfrm>
        </p:spPr>
        <p:txBody>
          <a:bodyPr/>
          <a:lstStyle/>
          <a:p>
            <a:pPr marL="355600" indent="-355600">
              <a:lnSpc>
                <a:spcPct val="100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Tech stack used in prototype: Python, </a:t>
            </a:r>
            <a:r>
              <a:rPr lang="en-US" sz="2400" b="0" dirty="0" err="1">
                <a:solidFill>
                  <a:srgbClr val="5583D1"/>
                </a:solidFill>
                <a:latin typeface="+mn-lt"/>
              </a:rPr>
              <a:t>FastAPI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 (backend), HTML/JS (frontend), </a:t>
            </a:r>
            <a:r>
              <a:rPr lang="en-US" sz="2400" b="0" dirty="0" err="1">
                <a:solidFill>
                  <a:srgbClr val="5583D1"/>
                </a:solidFill>
                <a:latin typeface="+mn-lt"/>
              </a:rPr>
              <a:t>Groq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 (free-tier LLM inference), </a:t>
            </a:r>
            <a:r>
              <a:rPr lang="en-US" sz="2400" b="0" dirty="0" err="1">
                <a:solidFill>
                  <a:srgbClr val="5583D1"/>
                </a:solidFill>
                <a:latin typeface="+mn-lt"/>
              </a:rPr>
              <a:t>Tavily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 (web search/evidence retrieval).</a:t>
            </a:r>
          </a:p>
          <a:p>
            <a:pPr marL="355600" indent="-355600">
              <a:lnSpc>
                <a:spcPct val="100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Key design principle: Transparent, documented scoring weights instead of a black-box fusion model — every score component is traceable.</a:t>
            </a:r>
          </a:p>
          <a:p>
            <a:pPr marL="355600" indent="-355600">
              <a:lnSpc>
                <a:spcPct val="100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Novel handling of uncertainty: Claims with no available evidence are labeled "developing" rather than falsely "unverifiable" or "false," avoiding overconfident errors for breaking news.</a:t>
            </a:r>
          </a:p>
          <a:p>
            <a:pPr marL="355600" indent="-355600">
              <a:lnSpc>
                <a:spcPct val="100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Evaluation approach: Can be benchmarked against labeled datasets (LIAR, FEVER, </a:t>
            </a:r>
            <a:r>
              <a:rPr lang="en-US" sz="2400" b="0" dirty="0" err="1">
                <a:solidFill>
                  <a:srgbClr val="5583D1"/>
                </a:solidFill>
                <a:latin typeface="+mn-lt"/>
              </a:rPr>
              <a:t>MultiFC</a:t>
            </a:r>
            <a:r>
              <a:rPr lang="en-US" sz="2400" b="0" dirty="0">
                <a:solidFill>
                  <a:srgbClr val="5583D1"/>
                </a:solidFill>
                <a:latin typeface="+mn-lt"/>
              </a:rPr>
              <a:t>) and compared against human fact-checker agreement rates.</a:t>
            </a:r>
            <a:endParaRPr lang="en-US" sz="2400" b="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7675AB-6528-C6E1-1298-8B4DC0FBA428}"/>
              </a:ext>
            </a:extLst>
          </p:cNvPr>
          <p:cNvSpPr txBox="1"/>
          <p:nvPr/>
        </p:nvSpPr>
        <p:spPr>
          <a:xfrm>
            <a:off x="411951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547CF6-2DB6-043B-0D57-69B3AD0899A0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CB581111-F34F-9970-D173-3E257F943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Flowchart</a:t>
            </a:r>
            <a:endParaRPr lang="en-US" sz="3600" b="1" dirty="0">
              <a:solidFill>
                <a:srgbClr val="5B9BD5">
                  <a:lumMod val="50000"/>
                </a:srgbClr>
              </a:solidFill>
              <a:latin typeface="Calibri" panose="020F0502020204030204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01665B-C1F1-9A39-E419-0AFCC4BE0EFD}"/>
              </a:ext>
            </a:extLst>
          </p:cNvPr>
          <p:cNvSpPr txBox="1"/>
          <p:nvPr/>
        </p:nvSpPr>
        <p:spPr>
          <a:xfrm>
            <a:off x="4072380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63B2D-7B75-C470-2E06-DBCE9914101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E4316486-4CBB-6223-6F62-CBC22688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DCF3A1A-8223-115F-4EDF-798AD1DDD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456" y="1234637"/>
            <a:ext cx="4775519" cy="46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F2F8-1270-0746-D6B7-A08E1E35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B07006-C44A-23BA-A9FE-BB6E30AF34A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22D340-ABF6-A9A7-E651-5237BE0FC5B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26B4A9F-FFD3-85A2-BDD1-978C88D88B75}"/>
              </a:ext>
            </a:extLst>
          </p:cNvPr>
          <p:cNvSpPr txBox="1"/>
          <p:nvPr/>
        </p:nvSpPr>
        <p:spPr>
          <a:xfrm>
            <a:off x="4072380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80F99F-A6A5-4331-1E92-E59CA59A156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5C57F1B7-4026-42B4-71BB-C506A6796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D2F855-6E0A-D43C-861D-BBFED37ED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05362"/>
              </p:ext>
            </p:extLst>
          </p:nvPr>
        </p:nvGraphicFramePr>
        <p:xfrm>
          <a:off x="952107" y="1350391"/>
          <a:ext cx="10454326" cy="4797540"/>
        </p:xfrm>
        <a:graphic>
          <a:graphicData uri="http://schemas.openxmlformats.org/drawingml/2006/table">
            <a:tbl>
              <a:tblPr/>
              <a:tblGrid>
                <a:gridCol w="3186260">
                  <a:extLst>
                    <a:ext uri="{9D8B030D-6E8A-4147-A177-3AD203B41FA5}">
                      <a16:colId xmlns:a16="http://schemas.microsoft.com/office/drawing/2014/main" val="2721944293"/>
                    </a:ext>
                  </a:extLst>
                </a:gridCol>
                <a:gridCol w="7268066">
                  <a:extLst>
                    <a:ext uri="{9D8B030D-6E8A-4147-A177-3AD203B41FA5}">
                      <a16:colId xmlns:a16="http://schemas.microsoft.com/office/drawing/2014/main" val="4013192510"/>
                    </a:ext>
                  </a:extLst>
                </a:gridCol>
              </a:tblGrid>
              <a:tr h="2626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 dirty="0"/>
                        <a:t>Module Name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B9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 dirty="0"/>
                        <a:t>Subtopic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B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932636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Claim Extraction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Parsing input into atomic, checkable claims; separating fact from opinion; detecting implicit/misleading framing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928298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Context &amp; Provenance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Tracing content origin, publisher history, reverse-image/video matching, manipulation detection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785881"/>
                  </a:ext>
                </a:extLst>
              </a:tr>
              <a:tr h="65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Evidence Retrieval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Querying search engines and fact-check databases per claim; retrieving both supporting and contradicting evidence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870223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Source Credibility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Scoring sources on accuracy track record, editorial transparency, and domain reputation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836709"/>
                  </a:ext>
                </a:extLst>
              </a:tr>
              <a:tr h="65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Cross-Referencing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Comparing claims against evidence; classifying support/contradict/unverifiable; detecting logical fallacies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423320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Linguistic &amp; Behavioral Signal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Detecting emotional manipulation, clickbait, false urgency as supplementary risk indicators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752140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Adversarial Review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Devil's-advocate agent that challenges the draft conclusion to surface weak reasoning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012662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Trust Aggregation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Combining all signals via a transparent weighted rubric into a final trust score with confidence interval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914131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Explainability &amp; Reporting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Generating human-readable rationale, evidence citations, and audit trail for every verdict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408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13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780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VINOTH KANNA.S</cp:lastModifiedBy>
  <cp:revision>13</cp:revision>
  <dcterms:created xsi:type="dcterms:W3CDTF">2024-05-13T10:33:11Z</dcterms:created>
  <dcterms:modified xsi:type="dcterms:W3CDTF">2026-09-06T15:05:43Z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